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7432"/>
            <a:ext cx="6400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093682"/>
                </a:solidFill>
                <a:latin typeface="Aptos"/>
              </a:rPr>
              <a:t>MDP Data &amp; Analytics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393192"/>
            <a:ext cx="585216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0">
                <a:solidFill>
                  <a:srgbClr val="697B8F"/>
                </a:solidFill>
                <a:latin typeface="Aptos"/>
              </a:rPr>
              <a:t>From Source to Self-Service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732520" y="128016"/>
            <a:ext cx="80467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50808" y="182880"/>
            <a:ext cx="76809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0">
                <a:solidFill>
                  <a:srgbClr val="093682"/>
                </a:solidFill>
                <a:latin typeface="Aptos"/>
              </a:rPr>
              <a:t>▥ Scalable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64624" y="128016"/>
            <a:ext cx="74980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82912" y="182880"/>
            <a:ext cx="713231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0">
                <a:solidFill>
                  <a:srgbClr val="093682"/>
                </a:solidFill>
                <a:latin typeface="Aptos"/>
              </a:rPr>
              <a:t>◇ Secure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41864" y="128016"/>
            <a:ext cx="877824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60152" y="182880"/>
            <a:ext cx="841247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0">
                <a:solidFill>
                  <a:srgbClr val="093682"/>
                </a:solidFill>
                <a:latin typeface="Aptos"/>
              </a:rPr>
              <a:t>♟ Governed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247120" y="128016"/>
            <a:ext cx="144475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65408" y="182880"/>
            <a:ext cx="140817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0">
                <a:solidFill>
                  <a:srgbClr val="093682"/>
                </a:solidFill>
                <a:latin typeface="Aptos"/>
              </a:rPr>
              <a:t>☼ Self-Service Analytics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19888" y="128016"/>
            <a:ext cx="1481328" cy="438912"/>
          </a:xfrm>
          <a:prstGeom prst="roundRect">
            <a:avLst/>
          </a:prstGeom>
          <a:solidFill>
            <a:srgbClr val="E8F7FF"/>
          </a:solidFill>
          <a:ln w="1270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93040" y="173736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80" b="1">
                <a:solidFill>
                  <a:srgbClr val="093682"/>
                </a:solidFill>
                <a:latin typeface="Aptos"/>
              </a:rPr>
              <a:t>DATA TODAY.
A SMARTER TOMORROW.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" y="932688"/>
            <a:ext cx="1417320" cy="4553712"/>
          </a:xfrm>
          <a:prstGeom prst="roundRect">
            <a:avLst/>
          </a:prstGeom>
          <a:solidFill>
            <a:srgbClr val="F4FBFF"/>
          </a:solidFill>
          <a:ln w="12700">
            <a:solidFill>
              <a:srgbClr val="AD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" y="1353312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50" b="1">
                <a:solidFill>
                  <a:srgbClr val="093682"/>
                </a:solidFill>
                <a:latin typeface="Aptos"/>
              </a:rPr>
              <a:t>Data Sources</a:t>
            </a:r>
          </a:p>
        </p:txBody>
      </p:sp>
      <p:sp>
        <p:nvSpPr>
          <p:cNvPr id="16" name="Can 15"/>
          <p:cNvSpPr/>
          <p:nvPr/>
        </p:nvSpPr>
        <p:spPr>
          <a:xfrm>
            <a:off x="566928" y="2468880"/>
            <a:ext cx="621792" cy="749808"/>
          </a:xfrm>
          <a:prstGeom prst="can">
            <a:avLst/>
          </a:prstGeom>
          <a:solidFill>
            <a:srgbClr val="FFFFFF"/>
          </a:solidFill>
          <a:ln w="25400">
            <a:solidFill>
              <a:srgbClr val="093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" y="3401568"/>
            <a:ext cx="11521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20" b="1">
                <a:solidFill>
                  <a:srgbClr val="093682"/>
                </a:solidFill>
                <a:latin typeface="Aptos"/>
              </a:rPr>
              <a:t>Data from
multiple sources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9152" y="932688"/>
            <a:ext cx="6291072" cy="4663440"/>
          </a:xfrm>
          <a:prstGeom prst="roundRect">
            <a:avLst/>
          </a:prstGeom>
          <a:solidFill>
            <a:srgbClr val="FAFDFF"/>
          </a:solidFill>
          <a:ln w="12700">
            <a:solidFill>
              <a:srgbClr val="AD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4425696" y="1005840"/>
            <a:ext cx="329184" cy="155448"/>
          </a:xfrm>
          <a:prstGeom prst="diamond">
            <a:avLst/>
          </a:prstGeom>
          <a:noFill/>
          <a:ln w="2540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4453128" y="1069848"/>
            <a:ext cx="274320" cy="155448"/>
          </a:xfrm>
          <a:prstGeom prst="diamond">
            <a:avLst/>
          </a:prstGeom>
          <a:noFill/>
          <a:ln w="2540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4480560" y="1133856"/>
            <a:ext cx="219456" cy="155448"/>
          </a:xfrm>
          <a:prstGeom prst="diamond">
            <a:avLst/>
          </a:prstGeom>
          <a:noFill/>
          <a:ln w="2540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987552"/>
            <a:ext cx="1920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93682"/>
                </a:solidFill>
                <a:latin typeface="Aptos"/>
              </a:rPr>
              <a:t>Databricks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0791" y="1371600"/>
            <a:ext cx="2971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80" b="1">
                <a:solidFill>
                  <a:srgbClr val="093682"/>
                </a:solidFill>
                <a:latin typeface="Aptos"/>
              </a:rPr>
              <a:t>Medallion Architecture (MDP Gold)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50592" y="1691640"/>
            <a:ext cx="1847088" cy="3675887"/>
          </a:xfrm>
          <a:prstGeom prst="rect">
            <a:avLst/>
          </a:prstGeom>
          <a:solidFill>
            <a:srgbClr val="FFFCF0"/>
          </a:solidFill>
          <a:ln w="1270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50592" y="1691640"/>
            <a:ext cx="1847088" cy="548640"/>
          </a:xfrm>
          <a:prstGeom prst="rect">
            <a:avLst/>
          </a:prstGeom>
          <a:solidFill>
            <a:srgbClr val="F8C245"/>
          </a:solidFill>
          <a:ln w="12700">
            <a:solidFill>
              <a:srgbClr val="F8C2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50592" y="1719072"/>
            <a:ext cx="184708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80" b="1">
                <a:solidFill>
                  <a:srgbClr val="000000"/>
                </a:solidFill>
                <a:latin typeface="Aptos"/>
              </a:rPr>
              <a:t>BRONZE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50592" y="1956816"/>
            <a:ext cx="1847088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0">
                <a:solidFill>
                  <a:srgbClr val="000000"/>
                </a:solidFill>
                <a:latin typeface="Aptos"/>
              </a:rPr>
              <a:t>(Raw Ingestion Layer)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79976" y="1691640"/>
            <a:ext cx="2304288" cy="3675887"/>
          </a:xfrm>
          <a:prstGeom prst="rect">
            <a:avLst/>
          </a:prstGeom>
          <a:solidFill>
            <a:srgbClr val="FFFFFF"/>
          </a:solidFill>
          <a:ln w="1270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79976" y="1691640"/>
            <a:ext cx="2304288" cy="548640"/>
          </a:xfrm>
          <a:prstGeom prst="rect">
            <a:avLst/>
          </a:prstGeom>
          <a:solidFill>
            <a:srgbClr val="DEE0E3"/>
          </a:solidFill>
          <a:ln w="12700">
            <a:solidFill>
              <a:srgbClr val="DE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9976" y="1719072"/>
            <a:ext cx="230428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80" b="1">
                <a:solidFill>
                  <a:srgbClr val="000000"/>
                </a:solidFill>
                <a:latin typeface="Aptos"/>
              </a:rPr>
              <a:t>SILVER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9976" y="1956816"/>
            <a:ext cx="2304288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0">
                <a:solidFill>
                  <a:srgbClr val="000000"/>
                </a:solidFill>
                <a:latin typeface="Aptos"/>
              </a:rPr>
              <a:t>(Validated &amp; Conformed Layer)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1691640"/>
            <a:ext cx="1764792" cy="3675887"/>
          </a:xfrm>
          <a:prstGeom prst="rect">
            <a:avLst/>
          </a:prstGeom>
          <a:solidFill>
            <a:srgbClr val="FFFCEC"/>
          </a:solidFill>
          <a:ln w="12700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66560" y="1691640"/>
            <a:ext cx="1764792" cy="548640"/>
          </a:xfrm>
          <a:prstGeom prst="rect">
            <a:avLst/>
          </a:prstGeom>
          <a:solidFill>
            <a:srgbClr val="FFDA40"/>
          </a:solidFill>
          <a:ln w="12700">
            <a:solidFill>
              <a:srgbClr val="FFD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1719072"/>
            <a:ext cx="176479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80" b="1">
                <a:solidFill>
                  <a:srgbClr val="000000"/>
                </a:solidFill>
                <a:latin typeface="Aptos"/>
              </a:rPr>
              <a:t>GOLD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1956816"/>
            <a:ext cx="1764792" cy="1737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0">
                <a:solidFill>
                  <a:srgbClr val="000000"/>
                </a:solidFill>
                <a:latin typeface="Aptos"/>
              </a:rPr>
              <a:t>(Certified &amp; Business Layer)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581912" y="2779776"/>
            <a:ext cx="868680" cy="0"/>
          </a:xfrm>
          <a:prstGeom prst="line">
            <a:avLst/>
          </a:prstGeom>
          <a:ln w="25400">
            <a:solidFill>
              <a:srgbClr val="0936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618488" y="2340864"/>
            <a:ext cx="731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80" b="1">
                <a:solidFill>
                  <a:srgbClr val="093682"/>
                </a:solidFill>
                <a:latin typeface="Aptos"/>
              </a:rPr>
              <a:t>Ingestion
(~ 1 hour)</a:t>
            </a:r>
          </a:p>
        </p:txBody>
      </p:sp>
      <p:sp>
        <p:nvSpPr>
          <p:cNvPr id="38" name="Can 37"/>
          <p:cNvSpPr/>
          <p:nvPr/>
        </p:nvSpPr>
        <p:spPr>
          <a:xfrm>
            <a:off x="2706624" y="2478024"/>
            <a:ext cx="521207" cy="603504"/>
          </a:xfrm>
          <a:prstGeom prst="can">
            <a:avLst/>
          </a:prstGeom>
          <a:solidFill>
            <a:srgbClr val="FFFFFF"/>
          </a:solidFill>
          <a:ln w="25400">
            <a:solidFill>
              <a:srgbClr val="093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615184" y="2761488"/>
            <a:ext cx="228600" cy="228600"/>
          </a:xfrm>
          <a:prstGeom prst="ellipse">
            <a:avLst/>
          </a:prstGeom>
          <a:solidFill>
            <a:srgbClr val="00B4E6"/>
          </a:solidFill>
          <a:ln>
            <a:solidFill>
              <a:srgbClr val="00B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19756" y="2756916"/>
            <a:ext cx="219456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96896" y="3108960"/>
            <a:ext cx="74980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1">
                <a:solidFill>
                  <a:srgbClr val="093682"/>
                </a:solidFill>
                <a:latin typeface="Aptos"/>
              </a:rPr>
              <a:t>LANDING</a:t>
            </a:r>
          </a:p>
        </p:txBody>
      </p:sp>
      <p:sp>
        <p:nvSpPr>
          <p:cNvPr id="42" name="Can 41"/>
          <p:cNvSpPr/>
          <p:nvPr/>
        </p:nvSpPr>
        <p:spPr>
          <a:xfrm>
            <a:off x="3584448" y="2478024"/>
            <a:ext cx="521207" cy="603504"/>
          </a:xfrm>
          <a:prstGeom prst="can">
            <a:avLst/>
          </a:prstGeom>
          <a:solidFill>
            <a:srgbClr val="FFFFFF"/>
          </a:solidFill>
          <a:ln w="25400">
            <a:solidFill>
              <a:srgbClr val="093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93008" y="3108960"/>
            <a:ext cx="7132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30" b="1">
                <a:solidFill>
                  <a:srgbClr val="093682"/>
                </a:solidFill>
                <a:latin typeface="Aptos"/>
              </a:rPr>
              <a:t>STAGING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227832" y="2779776"/>
            <a:ext cx="356616" cy="0"/>
          </a:xfrm>
          <a:prstGeom prst="line">
            <a:avLst/>
          </a:prstGeom>
          <a:ln w="25400">
            <a:solidFill>
              <a:srgbClr val="0936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105656" y="2779776"/>
            <a:ext cx="274320" cy="0"/>
          </a:xfrm>
          <a:prstGeom prst="line">
            <a:avLst/>
          </a:prstGeom>
          <a:ln w="25400">
            <a:solidFill>
              <a:srgbClr val="0936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578608" y="3374136"/>
            <a:ext cx="1572768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093682"/>
                </a:solidFill>
                <a:latin typeface="Aptos"/>
              </a:rPr>
              <a:t>• Preserve source format
  &amp; schema
• History retained</a:t>
            </a:r>
          </a:p>
        </p:txBody>
      </p:sp>
      <p:sp>
        <p:nvSpPr>
          <p:cNvPr id="47" name="Can 46"/>
          <p:cNvSpPr/>
          <p:nvPr/>
        </p:nvSpPr>
        <p:spPr>
          <a:xfrm>
            <a:off x="4617720" y="2478024"/>
            <a:ext cx="521207" cy="603504"/>
          </a:xfrm>
          <a:prstGeom prst="can">
            <a:avLst/>
          </a:prstGeom>
          <a:solidFill>
            <a:srgbClr val="FFFFFF"/>
          </a:solidFill>
          <a:ln w="25400">
            <a:solidFill>
              <a:srgbClr val="093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98848" y="3108960"/>
            <a:ext cx="7680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90" b="1">
                <a:solidFill>
                  <a:srgbClr val="093682"/>
                </a:solidFill>
                <a:latin typeface="Aptos"/>
              </a:rPr>
              <a:t>VALIDATED</a:t>
            </a:r>
          </a:p>
        </p:txBody>
      </p:sp>
      <p:sp>
        <p:nvSpPr>
          <p:cNvPr id="49" name="Can 48"/>
          <p:cNvSpPr/>
          <p:nvPr/>
        </p:nvSpPr>
        <p:spPr>
          <a:xfrm>
            <a:off x="5605272" y="2478024"/>
            <a:ext cx="521207" cy="603504"/>
          </a:xfrm>
          <a:prstGeom prst="can">
            <a:avLst/>
          </a:prstGeom>
          <a:solidFill>
            <a:srgbClr val="FFFFFF"/>
          </a:solidFill>
          <a:ln w="25400">
            <a:solidFill>
              <a:srgbClr val="093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13832" y="3108960"/>
            <a:ext cx="71323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19" b="1">
                <a:solidFill>
                  <a:srgbClr val="093682"/>
                </a:solidFill>
                <a:latin typeface="Aptos"/>
              </a:rPr>
              <a:t>FACADE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138928" y="2779776"/>
            <a:ext cx="466344" cy="0"/>
          </a:xfrm>
          <a:prstGeom prst="line">
            <a:avLst/>
          </a:prstGeom>
          <a:ln w="25400">
            <a:solidFill>
              <a:srgbClr val="0936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507992" y="3374136"/>
            <a:ext cx="10058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0" b="0">
                <a:solidFill>
                  <a:srgbClr val="093682"/>
                </a:solidFill>
                <a:latin typeface="Aptos"/>
              </a:rPr>
              <a:t>• Data quality checks
• Apply business rules
• Conformed schema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0" y="3374136"/>
            <a:ext cx="114300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90" b="0">
                <a:solidFill>
                  <a:srgbClr val="093682"/>
                </a:solidFill>
                <a:latin typeface="Aptos"/>
              </a:rPr>
              <a:t>• Business-ready tables
• Harmonized model
• Reusable datasets
• Feed to integration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126480" y="2779776"/>
            <a:ext cx="1115568" cy="0"/>
          </a:xfrm>
          <a:prstGeom prst="line">
            <a:avLst/>
          </a:prstGeom>
          <a:ln w="25400">
            <a:solidFill>
              <a:srgbClr val="0936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861304" y="3200400"/>
            <a:ext cx="0" cy="896112"/>
          </a:xfrm>
          <a:prstGeom prst="line">
            <a:avLst/>
          </a:prstGeom>
          <a:ln w="25400">
            <a:solidFill>
              <a:srgbClr val="0936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n 55"/>
          <p:cNvSpPr/>
          <p:nvPr/>
        </p:nvSpPr>
        <p:spPr>
          <a:xfrm>
            <a:off x="5596128" y="4096512"/>
            <a:ext cx="530352" cy="502920"/>
          </a:xfrm>
          <a:prstGeom prst="can">
            <a:avLst/>
          </a:prstGeom>
          <a:solidFill>
            <a:srgbClr val="FFFFFF"/>
          </a:solidFill>
          <a:ln w="25400">
            <a:solidFill>
              <a:srgbClr val="093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40096" y="4599432"/>
            <a:ext cx="105156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90" b="1">
                <a:solidFill>
                  <a:srgbClr val="093682"/>
                </a:solidFill>
                <a:latin typeface="Aptos"/>
              </a:rPr>
              <a:t>INTEGRATION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126480" y="4352544"/>
            <a:ext cx="548640" cy="0"/>
          </a:xfrm>
          <a:prstGeom prst="line">
            <a:avLst/>
          </a:prstGeom>
          <a:ln w="21590">
            <a:solidFill>
              <a:srgbClr val="0936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6675120" y="2779776"/>
            <a:ext cx="0" cy="1572768"/>
          </a:xfrm>
          <a:prstGeom prst="line">
            <a:avLst/>
          </a:prstGeom>
          <a:ln w="21590">
            <a:solidFill>
              <a:srgbClr val="0936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709160" y="4855464"/>
            <a:ext cx="193852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80" b="0">
                <a:solidFill>
                  <a:srgbClr val="093682"/>
                </a:solidFill>
                <a:latin typeface="Aptos"/>
              </a:rPr>
              <a:t>• Combine data from multiple domains
• Create conformed, integrated model
• Used for Gold layer</a:t>
            </a:r>
          </a:p>
        </p:txBody>
      </p:sp>
      <p:sp>
        <p:nvSpPr>
          <p:cNvPr id="61" name="Can 60"/>
          <p:cNvSpPr/>
          <p:nvPr/>
        </p:nvSpPr>
        <p:spPr>
          <a:xfrm>
            <a:off x="7242048" y="2478024"/>
            <a:ext cx="566928" cy="603504"/>
          </a:xfrm>
          <a:prstGeom prst="can">
            <a:avLst/>
          </a:prstGeom>
          <a:solidFill>
            <a:srgbClr val="FFFFFF"/>
          </a:solidFill>
          <a:ln w="25400">
            <a:solidFill>
              <a:srgbClr val="093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67728" y="3374136"/>
            <a:ext cx="1371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40" b="0">
                <a:solidFill>
                  <a:srgbClr val="093682"/>
                </a:solidFill>
                <a:latin typeface="Aptos"/>
              </a:rPr>
              <a:t>• Curated &amp; trusted data
• Truncate and load
• Business-friendly model
• Ready for consumption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759952" y="932688"/>
            <a:ext cx="5650992" cy="4663440"/>
          </a:xfrm>
          <a:prstGeom prst="roundRect">
            <a:avLst/>
          </a:prstGeom>
          <a:solidFill>
            <a:srgbClr val="F9FEFF"/>
          </a:solidFill>
          <a:ln w="12700">
            <a:solidFill>
              <a:srgbClr val="97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Parallelogram 63"/>
          <p:cNvSpPr/>
          <p:nvPr/>
        </p:nvSpPr>
        <p:spPr>
          <a:xfrm rot="21000000">
            <a:off x="9473184" y="1024128"/>
            <a:ext cx="457200" cy="164592"/>
          </a:xfrm>
          <a:prstGeom prst="parallelogram">
            <a:avLst/>
          </a:prstGeom>
          <a:solidFill>
            <a:srgbClr val="33CDA7"/>
          </a:solidFill>
          <a:ln>
            <a:solidFill>
              <a:srgbClr val="33CD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Parallelogram 64"/>
          <p:cNvSpPr/>
          <p:nvPr/>
        </p:nvSpPr>
        <p:spPr>
          <a:xfrm rot="21000000">
            <a:off x="9381744" y="1152144"/>
            <a:ext cx="457200" cy="164592"/>
          </a:xfrm>
          <a:prstGeom prst="parallelogram">
            <a:avLst/>
          </a:prstGeom>
          <a:solidFill>
            <a:srgbClr val="2BC19B"/>
          </a:solidFill>
          <a:ln>
            <a:solidFill>
              <a:srgbClr val="2BC1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Parallelogram 65"/>
          <p:cNvSpPr/>
          <p:nvPr/>
        </p:nvSpPr>
        <p:spPr>
          <a:xfrm rot="21000000">
            <a:off x="9290304" y="1280160"/>
            <a:ext cx="457200" cy="164592"/>
          </a:xfrm>
          <a:prstGeom prst="parallelogram">
            <a:avLst/>
          </a:prstGeom>
          <a:solidFill>
            <a:srgbClr val="008473"/>
          </a:solidFill>
          <a:ln>
            <a:solidFill>
              <a:srgbClr val="008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994392" y="987552"/>
            <a:ext cx="2423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93682"/>
                </a:solidFill>
                <a:latin typeface="Aptos"/>
              </a:rPr>
              <a:t>Microsoft Fabric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94392" y="132588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80" b="0">
                <a:solidFill>
                  <a:srgbClr val="093682"/>
                </a:solidFill>
                <a:latin typeface="Aptos"/>
              </a:rPr>
              <a:t>Lakehouse | Platinum Layer | Analytics &amp; Reporting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87000" y="1545336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80" b="0">
                <a:solidFill>
                  <a:srgbClr val="093682"/>
                </a:solidFill>
                <a:latin typeface="Aptos"/>
              </a:rPr>
              <a:t>One Platform. From Data to Insights.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869680" y="1755648"/>
            <a:ext cx="1536192" cy="3547872"/>
          </a:xfrm>
          <a:prstGeom prst="roundRect">
            <a:avLst/>
          </a:prstGeom>
          <a:solidFill>
            <a:srgbClr val="EFFCF5"/>
          </a:solidFill>
          <a:ln w="12700">
            <a:solidFill>
              <a:srgbClr val="C3E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488168" y="1755648"/>
            <a:ext cx="1755648" cy="3547872"/>
          </a:xfrm>
          <a:prstGeom prst="roundRect">
            <a:avLst/>
          </a:prstGeom>
          <a:solidFill>
            <a:srgbClr val="EEF8FF"/>
          </a:solidFill>
          <a:ln w="12700">
            <a:solidFill>
              <a:srgbClr val="C0D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2335256" y="1755648"/>
            <a:ext cx="1938528" cy="3547872"/>
          </a:xfrm>
          <a:prstGeom prst="roundRect">
            <a:avLst/>
          </a:prstGeom>
          <a:solidFill>
            <a:srgbClr val="FFFAE5"/>
          </a:solidFill>
          <a:ln w="12700">
            <a:solidFill>
              <a:srgbClr val="F1E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897112" y="1901952"/>
            <a:ext cx="1481328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70" b="1">
                <a:solidFill>
                  <a:srgbClr val="093682"/>
                </a:solidFill>
                <a:latin typeface="Aptos"/>
              </a:rPr>
              <a:t>Lakehouse
(OneLake)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15600" y="1901952"/>
            <a:ext cx="170078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093682"/>
                </a:solidFill>
                <a:latin typeface="Aptos"/>
              </a:rPr>
              <a:t>Platinum Layer
(Shared Semantic Model)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371832" y="1901952"/>
            <a:ext cx="1865376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093682"/>
                </a:solidFill>
                <a:latin typeface="Aptos"/>
              </a:rPr>
              <a:t>Analytics &amp; Reporting
(Power BI)</a:t>
            </a:r>
          </a:p>
        </p:txBody>
      </p:sp>
      <p:sp>
        <p:nvSpPr>
          <p:cNvPr id="76" name="Pentagon 75"/>
          <p:cNvSpPr/>
          <p:nvPr/>
        </p:nvSpPr>
        <p:spPr>
          <a:xfrm>
            <a:off x="9308592" y="2450592"/>
            <a:ext cx="530352" cy="566928"/>
          </a:xfrm>
          <a:prstGeom prst="homePlate">
            <a:avLst/>
          </a:prstGeom>
          <a:noFill/>
          <a:ln w="25400">
            <a:solidFill>
              <a:srgbClr val="009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Can 76"/>
          <p:cNvSpPr/>
          <p:nvPr/>
        </p:nvSpPr>
        <p:spPr>
          <a:xfrm>
            <a:off x="11018520" y="2450592"/>
            <a:ext cx="566928" cy="612648"/>
          </a:xfrm>
          <a:prstGeom prst="can">
            <a:avLst/>
          </a:prstGeom>
          <a:solidFill>
            <a:srgbClr val="278FDE"/>
          </a:solidFill>
          <a:ln w="25400">
            <a:solidFill>
              <a:srgbClr val="278F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3021056" y="2807208"/>
            <a:ext cx="128016" cy="274320"/>
          </a:xfrm>
          <a:prstGeom prst="roundRect">
            <a:avLst/>
          </a:prstGeom>
          <a:solidFill>
            <a:srgbClr val="F6B400"/>
          </a:solidFill>
          <a:ln>
            <a:solidFill>
              <a:srgbClr val="F6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3203936" y="2624328"/>
            <a:ext cx="128016" cy="457200"/>
          </a:xfrm>
          <a:prstGeom prst="roundRect">
            <a:avLst/>
          </a:prstGeom>
          <a:solidFill>
            <a:srgbClr val="F6B400"/>
          </a:solidFill>
          <a:ln>
            <a:solidFill>
              <a:srgbClr val="F6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13386816" y="2423160"/>
            <a:ext cx="128016" cy="658368"/>
          </a:xfrm>
          <a:prstGeom prst="roundRect">
            <a:avLst/>
          </a:prstGeom>
          <a:solidFill>
            <a:srgbClr val="F6B400"/>
          </a:solidFill>
          <a:ln>
            <a:solidFill>
              <a:srgbClr val="F6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7808975" y="2779776"/>
            <a:ext cx="1060705" cy="0"/>
          </a:xfrm>
          <a:prstGeom prst="line">
            <a:avLst/>
          </a:prstGeom>
          <a:ln w="25400">
            <a:solidFill>
              <a:srgbClr val="0936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8083296" y="2487168"/>
            <a:ext cx="51206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93682"/>
                </a:solidFill>
                <a:latin typeface="Aptos"/>
              </a:rPr>
              <a:t>T/L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10405872" y="2779776"/>
            <a:ext cx="612648" cy="0"/>
          </a:xfrm>
          <a:prstGeom prst="line">
            <a:avLst/>
          </a:prstGeom>
          <a:ln w="25400">
            <a:solidFill>
              <a:srgbClr val="0936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0456164" y="2487168"/>
            <a:ext cx="512064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93682"/>
                </a:solidFill>
                <a:latin typeface="Aptos"/>
              </a:rPr>
              <a:t>T/L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1585448" y="2779776"/>
            <a:ext cx="749808" cy="0"/>
          </a:xfrm>
          <a:prstGeom prst="line">
            <a:avLst/>
          </a:prstGeom>
          <a:ln w="25400">
            <a:solidFill>
              <a:srgbClr val="0936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8979408" y="3310128"/>
            <a:ext cx="1298448" cy="1307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30" b="0">
                <a:solidFill>
                  <a:srgbClr val="093682"/>
                </a:solidFill>
                <a:latin typeface="Aptos"/>
              </a:rPr>
              <a:t>• Access curated
  Gold tables
• Unified storage
  (OneLake)
• Single source of truth
• Direct Lake connection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625328" y="3310128"/>
            <a:ext cx="1481328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90" b="0">
                <a:solidFill>
                  <a:srgbClr val="093682"/>
                </a:solidFill>
                <a:latin typeface="Aptos"/>
              </a:rPr>
              <a:t>• Business logic &amp; measures
• Consistent definitions
• Centralized and reusable
  model
• Direct Lake mode
  (no additional refresh time)
• Supports self-service
  analytics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481560" y="3310128"/>
            <a:ext cx="1600200" cy="1353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19" b="0">
                <a:solidFill>
                  <a:srgbClr val="093682"/>
                </a:solidFill>
                <a:latin typeface="Aptos"/>
              </a:rPr>
              <a:t>• Dynamic &amp; paginated
  reports
• Executive dashboards
• Operational reports
• Self-service analytics
• Scheduled distribution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822960" y="5486400"/>
            <a:ext cx="0" cy="457200"/>
          </a:xfrm>
          <a:prstGeom prst="line">
            <a:avLst/>
          </a:prstGeom>
          <a:ln w="22860">
            <a:solidFill>
              <a:srgbClr val="0936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22960" y="5943600"/>
            <a:ext cx="10378440" cy="0"/>
          </a:xfrm>
          <a:prstGeom prst="line">
            <a:avLst/>
          </a:prstGeom>
          <a:ln w="22860">
            <a:solidFill>
              <a:srgbClr val="0936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1201400" y="4828032"/>
            <a:ext cx="0" cy="1115568"/>
          </a:xfrm>
          <a:prstGeom prst="line">
            <a:avLst/>
          </a:prstGeom>
          <a:ln w="22860">
            <a:solidFill>
              <a:srgbClr val="0936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4983480" y="5998464"/>
            <a:ext cx="3383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19" b="1">
                <a:solidFill>
                  <a:srgbClr val="093682"/>
                </a:solidFill>
                <a:latin typeface="Aptos"/>
              </a:rPr>
              <a:t>Direct Connection
(From Source / Salesforce to Semantic Model)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217152" y="5998464"/>
            <a:ext cx="5074920" cy="1078992"/>
          </a:xfrm>
          <a:prstGeom prst="roundRect">
            <a:avLst/>
          </a:prstGeom>
          <a:solidFill>
            <a:srgbClr val="F4FCFF"/>
          </a:solidFill>
          <a:ln w="12700">
            <a:solidFill>
              <a:srgbClr val="ADD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1018520" y="6089904"/>
            <a:ext cx="1417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70" b="1">
                <a:solidFill>
                  <a:srgbClr val="093682"/>
                </a:solidFill>
                <a:latin typeface="Aptos"/>
              </a:rPr>
              <a:t>End Users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464040" y="6409944"/>
            <a:ext cx="138988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093682"/>
                </a:solidFill>
                <a:latin typeface="Aptos"/>
              </a:rPr>
              <a:t>●  Business Users
    (Self-Service)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109960" y="6409944"/>
            <a:ext cx="1097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093682"/>
                </a:solidFill>
                <a:latin typeface="Aptos"/>
              </a:rPr>
              <a:t>●  Analysts
    (Deep Dive)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664440" y="6409944"/>
            <a:ext cx="144475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" b="0">
                <a:solidFill>
                  <a:srgbClr val="093682"/>
                </a:solidFill>
                <a:latin typeface="Aptos"/>
              </a:rPr>
              <a:t>●  Leadership
    (Insights &amp; Decisions)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